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11200" y="508000"/>
            <a:ext cx="107696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11200" y="1259840"/>
            <a:ext cx="10668000" cy="478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711200" y="508000"/>
            <a:ext cx="107696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711200" y="1259840"/>
            <a:ext cx="10668000" cy="478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2062480"/>
            <a:ext cx="110926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UE24CS352A Machine Learning | Mini-Project, Problem 13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711200" y="2557780"/>
            <a:ext cx="11092688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Physics-Informed Neural Networks for Mechanics Problems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11200" y="4015740"/>
            <a:ext cx="11092688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8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solutions and discoveries in mechanics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1200" y="4546600"/>
            <a:ext cx="1109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8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of two | SRN: PES1UG24CS648 | Based on Zhang, Chen and Yang, Stanford CS229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711200" y="508000"/>
            <a:ext cx="1109268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and motivation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1200" y="1132840"/>
            <a:ext cx="110926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Mechanics problems are written as differential equations: heat flow in a plate, water draining from soil, a damped spring. Two usual ways of solving them both have weaknesses.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4375" y="1847215"/>
            <a:ext cx="3481864" cy="2083435"/>
          </a:xfrm>
          <a:prstGeom prst="roundRect">
            <a:avLst>
              <a:gd name="adj" fmla="val 4724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4080" y="2026920"/>
            <a:ext cx="32161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Numerical solvers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4080" y="2362200"/>
            <a:ext cx="3216127" cy="1414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Finite elements and finite differences divide the object into a mesh. They are accurate but need meshing, must be re-run for every new case, and cannot easily discover unknown constants.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54989" y="1847215"/>
            <a:ext cx="3481943" cy="2083435"/>
          </a:xfrm>
          <a:prstGeom prst="roundRect">
            <a:avLst>
              <a:gd name="adj" fmla="val 4724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4694" y="2026920"/>
            <a:ext cx="321620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neural networks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34694" y="2362200"/>
            <a:ext cx="3216209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from labelled input-output pairs, so they need many examples. They know nothing about the governing equation and can give physically impossible answers.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95682" y="1847215"/>
            <a:ext cx="3481943" cy="2083435"/>
          </a:xfrm>
          <a:prstGeom prst="roundRect">
            <a:avLst>
              <a:gd name="adj" fmla="val 4724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5387" y="2026920"/>
            <a:ext cx="321620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PINN (this project)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75387" y="2362200"/>
            <a:ext cx="3216209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network is trained on the equation itself. It needs no mesh and little or no labelled data, gives a smooth differentiable solution, and can find unknown parameters.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1200" y="4111625"/>
            <a:ext cx="1109268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Goal: reproduce the paper's two problem classes in PyTorch and check the results against exact or numerical solutions.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6158" y="4822825"/>
            <a:ext cx="11040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solutions (forward): the equation is known, find the solution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discovery (inverse): some constants are unknown, find them from measurements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711200" y="508000"/>
            <a:ext cx="1109268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 PINN learns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1200" y="1132841"/>
            <a:ext cx="1109268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network takes the inputs (t, or x and y, or x and t) and outputs the solution. Training minimises a loss that measures how badly the output breaks the physics.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4375" y="1829436"/>
            <a:ext cx="3481864" cy="1851977"/>
          </a:xfrm>
          <a:prstGeom prst="roundRect">
            <a:avLst>
              <a:gd name="adj" fmla="val 5315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4080" y="2009141"/>
            <a:ext cx="321612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PDE residual L_f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4080" y="2344420"/>
            <a:ext cx="3216127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 the output into the equation at random collocation points. The residual should be zero. Derivatives come from automatic differentiation, so no mesh is needed.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54989" y="1829436"/>
            <a:ext cx="3481943" cy="1851977"/>
          </a:xfrm>
          <a:prstGeom prst="roundRect">
            <a:avLst>
              <a:gd name="adj" fmla="val 5315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4694" y="2009141"/>
            <a:ext cx="321620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 / initial L_b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34694" y="2344420"/>
            <a:ext cx="3216209" cy="951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Penalise violations of known edge values and the starting state, for example T = 0 on the plate edge, or u(0) = 1.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95682" y="1829436"/>
            <a:ext cx="3481943" cy="1851977"/>
          </a:xfrm>
          <a:prstGeom prst="roundRect">
            <a:avLst>
              <a:gd name="adj" fmla="val 5315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5387" y="2009141"/>
            <a:ext cx="3216209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L_d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75387" y="2344420"/>
            <a:ext cx="3216209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Penalise mismatch with measurements. Used only in the inverse problem, where 50 observations of displacement are given.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1200" y="3862387"/>
            <a:ext cx="11092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= w_f L_f + w_b L_b + w_d L_d (each term is a mean squared error)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6158" y="4395788"/>
            <a:ext cx="1104087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Inverse problem: c and k are trainable parameters, updated together with the network weights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is non-convex, so we use Adam first, then L-BFGS to refine (consolidation)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type: non-linear regression, physics-informed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711200" y="508000"/>
            <a:ext cx="11092688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4"/>
              </a:lnSpc>
              <a:buNone/>
            </a:pPr>
            <a:r>
              <a:rPr lang="en-US" sz="2840" b="1" i="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Connection to the syllabus</a:t>
            </a:r>
            <a:endParaRPr lang="en-US" sz="284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1360" y="1088469"/>
          <a:ext cx="10759440" cy="4888627"/>
        </p:xfrm>
        <a:graphic>
          <a:graphicData uri="http://schemas.openxmlformats.org/drawingml/2006/table">
            <a:tbl>
              <a:tblPr/>
              <a:tblGrid>
                <a:gridCol w="5379720"/>
                <a:gridCol w="5379720"/>
              </a:tblGrid>
              <a:tr h="401876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b="1" dirty="0">
                          <a:solidFill>
                            <a:srgbClr val="2A7FB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Syllabus topic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b="1" dirty="0">
                          <a:solidFill>
                            <a:srgbClr val="2A7FB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it appears in our project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640953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Perceptron, multi-layer networks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Each neuron is a weighted sum plus bias and an activation. Hidden layers: 3x32, 4x50, 5x50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953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Back-propagation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Gradients of the loss reach the weights through derivatives of the output (create_graph=True)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953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Activation functions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tanh in hidden layers: smooth, so second derivatives exist. ReLU would give zero second derivative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953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Optimizers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Adam (momentum plus adaptive step), then L-BFGS (quasi-Newton) for refinement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953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Regression and metrics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MSE, maximum absolute error, relative error of the identified c and k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953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Hypothesis and inductive bias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physics equation restricts the hypothesis space and acts as a regulariser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1033"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Hyperparameters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83"/>
                        </a:lnSpc>
                        <a:buNone/>
                      </a:pPr>
                      <a:r>
                        <a:rPr lang="en-US" sz="1345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Layers, width, learning rate, epochs and loss weights, taken from the paper</a:t>
                      </a:r>
                      <a:endParaRPr lang="en-US" sz="134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11200" y="6154896"/>
            <a:ext cx="11092688" cy="220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used: decision trees, kNN, SVM, boosting, Bayesian models, clustering, reinforcement learning, CNNs, cross-validation.</a:t>
            </a:r>
            <a:endParaRPr lang="en-US" sz="11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711200" y="508000"/>
            <a:ext cx="1109268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1200" y="1132839"/>
            <a:ext cx="11092688" cy="28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of the three scripts (pinn_oscillator.py, pinn_heat.py, pinn_consolidation.py) follows the same six steps.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14375" y="1571625"/>
            <a:ext cx="3481864" cy="1348105"/>
          </a:xfrm>
          <a:prstGeom prst="roundRect">
            <a:avLst>
              <a:gd name="adj" fmla="val 7301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4080" y="1751332"/>
            <a:ext cx="32161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Sample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4080" y="2071371"/>
            <a:ext cx="3216127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collocation points inside the domain, boundary and initial points. 50 observations for the oscillator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54989" y="1571625"/>
            <a:ext cx="3481943" cy="1348105"/>
          </a:xfrm>
          <a:prstGeom prst="roundRect">
            <a:avLst>
              <a:gd name="adj" fmla="val 7301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4694" y="1751332"/>
            <a:ext cx="321620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Network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34694" y="2071371"/>
            <a:ext cx="3216209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PyTorch MLP: tanh hidden layers, linear output. Glorot initialisation. Inputs scaled to about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95682" y="1571625"/>
            <a:ext cx="3481943" cy="1348105"/>
          </a:xfrm>
          <a:prstGeom prst="roundRect">
            <a:avLst>
              <a:gd name="adj" fmla="val 7301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75387" y="1751332"/>
            <a:ext cx="321620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Derivatives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75387" y="2071371"/>
            <a:ext cx="3216209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torch.autograd.grad gives u_t, u_x and u_xx from the output, with create_graph=True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4375" y="3078482"/>
            <a:ext cx="3481864" cy="1348105"/>
          </a:xfrm>
          <a:prstGeom prst="roundRect">
            <a:avLst>
              <a:gd name="adj" fmla="val 7301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4080" y="3258186"/>
            <a:ext cx="321612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Loss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4080" y="3578225"/>
            <a:ext cx="3216127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MSE of the equation residual, boundary or initial error, and data error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54989" y="3078482"/>
            <a:ext cx="3481943" cy="1348105"/>
          </a:xfrm>
          <a:prstGeom prst="roundRect">
            <a:avLst>
              <a:gd name="adj" fmla="val 7301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4694" y="3258186"/>
            <a:ext cx="321620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Train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34694" y="3578225"/>
            <a:ext cx="3216209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loss.backward() then Adam steps for 20,000-30,000 epochs; L-BFGS for consolidation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95682" y="3078482"/>
            <a:ext cx="3481943" cy="1348105"/>
          </a:xfrm>
          <a:prstGeom prst="roundRect">
            <a:avLst>
              <a:gd name="adj" fmla="val 7301"/>
            </a:avLst>
          </a:prstGeom>
          <a:solidFill>
            <a:srgbClr val="FFFDF9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5387" y="3258186"/>
            <a:ext cx="321620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A7F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Evaluate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75387" y="3578225"/>
            <a:ext cx="3216209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with the reference on a dense grid: MSE, max error, plots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6158" y="4607561"/>
            <a:ext cx="11040872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every step uses all the points, one epoch is one weight update, so epochs and iterations are the same thing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transform in consolidation: p = x * NN(x, t) makes p(0, t) = 0 hold exactly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is divided by T in the oscillator so tanh units do not saturate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711200" y="508000"/>
            <a:ext cx="1109268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experiments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1360" y="1142999"/>
          <a:ext cx="10759440" cy="4714240"/>
        </p:xfrm>
        <a:graphic>
          <a:graphicData uri="http://schemas.openxmlformats.org/drawingml/2006/table">
            <a:tbl>
              <a:tblPr/>
              <a:tblGrid>
                <a:gridCol w="2689860"/>
                <a:gridCol w="2689860"/>
                <a:gridCol w="2689860"/>
                <a:gridCol w="26898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A7FB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Oscillator (inverse)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A7FB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Heat conduction (forward)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A7FB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Consolidation (forward)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Equation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 u'' + c u' + k u = 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T_xx + T_yy + 1 = 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p_t - p_xx = 0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Unknown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 and k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T(x, y) on [-1,1] x [-1,1]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p(x, t), t up to 0.5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Conditions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u(0)=1, u'(0)=1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 = 0 on the boundary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p(0,t)=0, p_x(1,t)=0, p(x,0)=1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Network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x 32 tanh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x 50 tanh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x 50 tanh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Points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 observations, 100 residual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1500 interior, 500 boundary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500 residual, 250 initial, 125 Neumann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Optimiser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Adam, 30,000 epochs, lr 1e-3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Adam, 20,000 epochs, lr 5e-4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Adam 20,000 (lr 1e-3), then L-BFGS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Reference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Analytical solution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Finite differences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Analytical series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11200" y="6035039"/>
            <a:ext cx="1109268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data is synthetic: random points plus observations generated from the analytical solution. No external dataset is used.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711200" y="355600"/>
            <a:ext cx="1109268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Oscillator: identifying c and 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14375" y="932814"/>
            <a:ext cx="10763250" cy="264541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Oscillator: identifying c and k resul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7880" y="1036321"/>
            <a:ext cx="9144000" cy="2438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1200" y="3708400"/>
            <a:ext cx="357544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= 0.4099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11200" y="4160521"/>
            <a:ext cx="357544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0.4 (2.5% off)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60307" y="3708400"/>
            <a:ext cx="35755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= 4.0019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360307" y="4160521"/>
            <a:ext cx="357552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4.0 (0.05% off)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09493" y="3708400"/>
            <a:ext cx="357544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points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09493" y="4160521"/>
            <a:ext cx="357544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noise-free observations, 30,000 epochs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6158" y="4485639"/>
            <a:ext cx="11040872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Left: the PINN curve lies on the exact solution; small drift after t = 13 where the signal has almost died out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Middle: c and k start at a wrong guess of 1; k settles first, c overshoots to about 1.5 then slowly falls to about 0.41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Right: loss falls from about 1 to 2e-4; the spikes are normal Adam noise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711200" y="355600"/>
            <a:ext cx="1109268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conduction vs finite differences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14375" y="932814"/>
            <a:ext cx="10763250" cy="2251710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Heat conduction vs finite differences results">    </p:cNvPr>
          <p:cNvPicPr>
            <a:picLocks noChangeAspect="1"/>
          </p:cNvPicPr>
          <p:nvPr/>
        </p:nvPicPr>
        <p:blipFill>
          <a:blip r:embed="rId1"/>
          <a:srcRect l="0" r="0" t="-313" b="-313"/>
          <a:stretch/>
        </p:blipFill>
        <p:spPr>
          <a:xfrm>
            <a:off x="817880" y="1036321"/>
            <a:ext cx="9144000" cy="2044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1200" y="3314700"/>
            <a:ext cx="357544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MSE 2.5e-6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11200" y="3766821"/>
            <a:ext cx="357544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against the finite-difference solution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60307" y="3314700"/>
            <a:ext cx="35755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error 0.013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360307" y="3766821"/>
            <a:ext cx="357552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temperature is about 0.29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09493" y="3314700"/>
            <a:ext cx="357544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Corners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09493" y="3766821"/>
            <a:ext cx="357544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largest error: boundary is a soft constraint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6158" y="4091942"/>
            <a:ext cx="1104087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PINN and reference panels are visually identical: hottest at the centre, zero at the edges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is below 0.013 everywhere and brightest at the corners, where two edges meet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suggested in the paper: multiply the output by a smooth distance function to enforce T = 0 exactly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711200" y="355600"/>
            <a:ext cx="1109268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Consolidation vs analytical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14375" y="932817"/>
            <a:ext cx="10763250" cy="2251710"/>
          </a:xfrm>
          <a:prstGeom prst="roundRect">
            <a:avLst>
              <a:gd name="adj" fmla="val 4371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pic>
        <p:nvPicPr>
          <p:cNvPr id="4" name="Image 0" descr="Consolidation vs analytical solution results">    </p:cNvPr>
          <p:cNvPicPr>
            <a:picLocks noChangeAspect="1"/>
          </p:cNvPicPr>
          <p:nvPr/>
        </p:nvPicPr>
        <p:blipFill>
          <a:blip r:embed="rId1"/>
          <a:srcRect l="0" r="0" t="-136" b="-136"/>
          <a:stretch/>
        </p:blipFill>
        <p:spPr>
          <a:xfrm>
            <a:off x="817880" y="1036321"/>
            <a:ext cx="9144000" cy="2044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1200" y="3314700"/>
            <a:ext cx="357544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MSE 7.1e-4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11200" y="3766821"/>
            <a:ext cx="357544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domain, max error 0.65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60307" y="3314700"/>
            <a:ext cx="35755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MSE 2.4e-4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360307" y="3766821"/>
            <a:ext cx="357552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 of 0.02 or more, max error 0.14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09493" y="3314700"/>
            <a:ext cx="357544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09493" y="3766821"/>
            <a:ext cx="357544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is concentrated at x = 0, t = 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6158" y="4091942"/>
            <a:ext cx="11040872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 starts at 1 everywhere and drains out through x = 0, so the low-pressure region spreads right over time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the origin the true solution drops from 1 to 0 almost instantly, which a smooth network cannot copy exactly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plot shows the Adam stage only; L-BFGS then lowered the loss to about 7.8e-4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711200" y="508000"/>
            <a:ext cx="1109268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summary and comparison with the paper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1360" y="1143002"/>
          <a:ext cx="10759440" cy="3657600"/>
        </p:xfrm>
        <a:graphic>
          <a:graphicData uri="http://schemas.openxmlformats.org/drawingml/2006/table">
            <a:tbl>
              <a:tblPr/>
              <a:tblGrid>
                <a:gridCol w="2689860"/>
                <a:gridCol w="2689860"/>
                <a:gridCol w="2689860"/>
                <a:gridCol w="2689860"/>
              </a:tblGrid>
              <a:tr h="4470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A7FB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Problem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A7FB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A7FB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Ours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A7FB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Oscillator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Identified c, k (true 0.4, 4.0)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0.4099, 4.0019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0.40125, 3.9933 (100,000 epochs)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Heat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MSE / max error vs reference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2.5e-6 / 1.3e-2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 error about 5e-3 (FEM reference)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600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Consolidation, full domain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MSE / max error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7.1e-4 / 0.65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Max error about 0.045 (50,000 epochs plus L-BFGS)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Consolidation, t of 0.02 or more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MSE / max error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2.4e-4 / 0.14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226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reported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88900" marR="889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11200" y="4978400"/>
            <a:ext cx="1109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F5D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our errors are a little larger: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56158" y="5405121"/>
            <a:ext cx="11040872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trained for 20,000-30,000 epochs; the paper used 50,000-100,000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reference is a finite-difference solution, not the paper's deal.II finite-element solution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1226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learning rate with no decay, so the loss keeps some Adam noise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711200" y="457200"/>
            <a:ext cx="1109268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E07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Conclusions and future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1200" y="1031242"/>
            <a:ext cx="1109268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6158" y="1432564"/>
            <a:ext cx="11040872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PINN recovered the oscillator parameters to within 2.5% and 0.05% from only 50 observations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forward solutions match their references without any mesh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 concentrate where gradients are sharp: the origin (consolidation) and the corners (heat)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physics loss acts as a regulariser, so little or no labelled data is needed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1200" y="2697479"/>
            <a:ext cx="1109268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and future work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6158" y="3098800"/>
            <a:ext cx="11040872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Longer training with learning-rate decay to reduce the loss noise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boundary constraints using a distance function, as the paper suggests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training points near sharp gradients (adaptive placement)</a:t>
            </a:r>
            <a:endParaRPr lang="en-US" sz="1600" dirty="0"/>
          </a:p>
          <a:p>
            <a:pPr algn="l" marL="183642" indent="-18364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Coupled poromechanics equations and hyperparameter search (grid, random or Bayesian)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s for Mechanics Problems – ML Mini-Project">
  <a:themeElements>
    <a:clrScheme name="PINNs for Mechanics Problems – ML Mini-Project">
      <a:dk1>
        <a:srgbClr val="12263A"/>
      </a:dk1>
      <a:lt1>
        <a:srgbClr val="F6F4EF"/>
      </a:lt1>
      <a:dk2>
        <a:srgbClr val="4B5A67"/>
      </a:dk2>
      <a:lt2>
        <a:srgbClr val="DFDFDD"/>
      </a:lt2>
      <a:accent1>
        <a:srgbClr val="E07A1F"/>
      </a:accent1>
      <a:accent2>
        <a:srgbClr val="2A7FBA"/>
      </a:accent2>
      <a:accent3>
        <a:srgbClr val="4F5D68"/>
      </a:accent3>
      <a:accent4>
        <a:srgbClr val="B8C4CC"/>
      </a:accent4>
      <a:accent5>
        <a:srgbClr val="9AA0A6"/>
      </a:accent5>
      <a:accent6>
        <a:srgbClr val="6D7882"/>
      </a:accent6>
      <a:hlink>
        <a:srgbClr val="0563C1"/>
      </a:hlink>
      <a:folHlink>
        <a:srgbClr val="954F72"/>
      </a:folHlink>
    </a:clrScheme>
    <a:fontScheme name="PINNs for Mechanics Problems – ML Mini-Project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PINNs for Mechanics Problems – ML Mini-Project</dc:title>
  <dc:subject/>
  <dc:creator/>
  <cp:lastModifiedBy/>
  <cp:revision>1</cp:revision>
  <dcterms:created xsi:type="dcterms:W3CDTF">2026-10-11T14:03:06Z</dcterms:created>
  <dcterms:modified xsi:type="dcterms:W3CDTF">2026-10-11T14:03:06Z</dcterms:modified>
</cp:coreProperties>
</file>